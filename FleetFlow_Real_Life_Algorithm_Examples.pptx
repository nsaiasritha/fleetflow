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548640"/>
            <a:ext cx="1097280" cy="1097280"/>
          </a:xfrm>
          <a:prstGeom prst="ellipse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645920"/>
            <a:ext cx="594360" cy="594360"/>
          </a:xfrm>
          <a:prstGeom prst="ellipse">
            <a:avLst/>
          </a:prstGeom>
          <a:solidFill>
            <a:srgbClr val="F2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2011680"/>
            <a:ext cx="384048" cy="384048"/>
          </a:xfrm>
          <a:prstGeom prst="ellipse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2743200"/>
            <a:ext cx="914400" cy="914400"/>
          </a:xfrm>
          <a:prstGeom prst="ellipse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300" b="1">
                <a:solidFill>
                  <a:srgbClr val="F2B037"/>
                </a:solidFill>
                <a:latin typeface="Aptos"/>
              </a:rPr>
              <a:t>ADVANCED ALGORITHMS • JAVA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7772400" cy="105156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Aptos"/>
              </a:rPr>
              <a:t>FleetFlow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7955279" cy="8686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2400" b="0">
                <a:solidFill>
                  <a:srgbClr val="D7E2F1"/>
                </a:solidFill>
                <a:latin typeface="Aptos"/>
              </a:rPr>
              <a:t>Algorithms explained through real-life logistics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7040880" cy="105156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900" b="0">
                <a:solidFill>
                  <a:srgbClr val="FFFFFF"/>
                </a:solidFill>
                <a:latin typeface="Aptos"/>
              </a:rPr>
              <a:t>From finding a tracking code to matching vehicles and balancing delivery loads.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6400800" cy="3200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300" b="1">
                <a:solidFill>
                  <a:srgbClr val="BECDE1"/>
                </a:solidFill>
                <a:latin typeface="Aptos"/>
              </a:rPr>
              <a:t>Six modules • Practical use cases • Big-O 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9672"/>
            <a:ext cx="804672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900" b="1">
                <a:solidFill>
                  <a:srgbClr val="5F6C7D"/>
                </a:solidFill>
                <a:latin typeface="Aptos"/>
              </a:rPr>
              <a:t>FLEETFLOW • REAL-LIFE ALGORITHM 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1">
                <a:solidFill>
                  <a:srgbClr val="5F6C7D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411480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100" b="1">
                <a:solidFill>
                  <a:srgbClr val="169691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2800" b="1">
                <a:solidFill>
                  <a:srgbClr val="13223D"/>
                </a:solidFill>
                <a:latin typeface="Aptos"/>
              </a:rPr>
              <a:t>How FleetFlow uses algorithms in real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400" b="0">
                <a:solidFill>
                  <a:srgbClr val="5F6C7D"/>
                </a:solidFill>
                <a:latin typeface="Aptos"/>
              </a:rPr>
              <a:t>Think of a delivery company handling hundreds of parcels, addresses, vehicles and routes.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65960"/>
            <a:ext cx="91440" cy="141732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13055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1. Find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06039"/>
            <a:ext cx="3136392" cy="66751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Search a delivery ID, tracking code or destination in a CSV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9659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965960"/>
            <a:ext cx="91440" cy="1417320"/>
          </a:xfrm>
          <a:prstGeom prst="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213055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2. Make better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606039"/>
            <a:ext cx="3136392" cy="66751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Compare similar addresses, plan small routes and respect vehicle capacity.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65960"/>
            <a:ext cx="35204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965960"/>
            <a:ext cx="91440" cy="1417320"/>
          </a:xfrm>
          <a:prstGeom prst="rect">
            <a:avLst/>
          </a:prstGeom>
          <a:solidFill>
            <a:srgbClr val="F2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13055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3. Use resources well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606039"/>
            <a:ext cx="3136392" cy="66751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Model network capacity, match tasks and distribute work across vehicles.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77639"/>
            <a:ext cx="10607040" cy="36576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Typical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617720"/>
            <a:ext cx="1920240" cy="731520"/>
          </a:xfrm>
          <a:prstGeom prst="round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773168"/>
            <a:ext cx="1773936" cy="34747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CSV dataset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617720"/>
            <a:ext cx="1920240" cy="731520"/>
          </a:xfrm>
          <a:prstGeom prst="round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4773168"/>
            <a:ext cx="1773936" cy="34747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Java menu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4617720"/>
            <a:ext cx="1920240" cy="731520"/>
          </a:xfrm>
          <a:prstGeom prst="roundRect">
            <a:avLst/>
          </a:prstGeom>
          <a:solidFill>
            <a:srgbClr val="F2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25312" y="4773168"/>
            <a:ext cx="1773936" cy="34747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Algorithm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4617720"/>
            <a:ext cx="1920240" cy="731520"/>
          </a:xfrm>
          <a:prstGeom prst="round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4773168"/>
            <a:ext cx="1773936" cy="34747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Result in terminal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773168"/>
            <a:ext cx="411480" cy="3200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2400" b="1">
                <a:solidFill>
                  <a:srgbClr val="5F6C7D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4773168"/>
            <a:ext cx="411480" cy="3200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2400" b="1">
                <a:solidFill>
                  <a:srgbClr val="5F6C7D"/>
                </a:solidFill>
                <a:latin typeface="Apto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773168"/>
            <a:ext cx="411480" cy="3200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2400" b="1">
                <a:solidFill>
                  <a:srgbClr val="5F6C7D"/>
                </a:solidFill>
                <a:latin typeface="Apto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804672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900" b="1">
                <a:solidFill>
                  <a:srgbClr val="5F6C7D"/>
                </a:solidFill>
                <a:latin typeface="Aptos"/>
              </a:rPr>
              <a:t>FLEETFLOW • REAL-LIFE ALGORITHM EXAMPLES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1">
                <a:solidFill>
                  <a:srgbClr val="5F6C7D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411480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100" b="1">
                <a:solidFill>
                  <a:srgbClr val="169691"/>
                </a:solidFill>
                <a:latin typeface="Aptos"/>
              </a:rP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2800" b="1">
                <a:solidFill>
                  <a:srgbClr val="13223D"/>
                </a:solidFill>
                <a:latin typeface="Aptos"/>
              </a:rPr>
              <a:t>Data integration and searching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400" b="0">
                <a:solidFill>
                  <a:srgbClr val="5F6C7D"/>
                </a:solidFill>
                <a:latin typeface="Aptos"/>
              </a:rPr>
              <a:t>Real-life example: a customer calls asking, “Where is tracking code TRK-00042?”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91440" cy="196596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Linear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514600"/>
            <a:ext cx="3136392" cy="121615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Checks records one by one until the matching delivery ID or tracking code is found.
Useful when the dataset is small or unsorted.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74519"/>
            <a:ext cx="91440" cy="1965960"/>
          </a:xfrm>
          <a:prstGeom prst="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CSV Data Loading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514600"/>
            <a:ext cx="3136392" cy="121615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Reads delivery rows into the program so the menu can search and summarize them.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74519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874519"/>
            <a:ext cx="91440" cy="1965960"/>
          </a:xfrm>
          <a:prstGeom prst="rect">
            <a:avLst/>
          </a:prstGeom>
          <a:solidFill>
            <a:srgbClr val="F2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514600"/>
            <a:ext cx="3136392" cy="121615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Linear search: O(N) time in the worst case.
If there are 250 rows, it may inspect up to 250 records.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10424160" cy="8686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Presentation line: “Module 1 loads delivery data and lets a user search records. A simple linear search checks each row until it finds the required tracking code.”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804672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900" b="1">
                <a:solidFill>
                  <a:srgbClr val="5F6C7D"/>
                </a:solidFill>
                <a:latin typeface="Aptos"/>
              </a:rPr>
              <a:t>FLEETFLOW • REAL-LIFE ALGORITHM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1">
                <a:solidFill>
                  <a:srgbClr val="5F6C7D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411480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100" b="1">
                <a:solidFill>
                  <a:srgbClr val="169691"/>
                </a:solidFill>
                <a:latin typeface="Aptos"/>
              </a:rP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2800" b="1">
                <a:solidFill>
                  <a:srgbClr val="13223D"/>
                </a:solidFill>
                <a:latin typeface="Aptos"/>
              </a:rPr>
              <a:t>String algorithms: search text and handle typos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400" b="0">
                <a:solidFill>
                  <a:srgbClr val="5F6C7D"/>
                </a:solidFill>
                <a:latin typeface="Aptos"/>
              </a:rPr>
              <a:t>Real-life example: find a tracking code inside a long delivery log or compare a typed address with the saved address.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91440" cy="1874519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Naive String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514600"/>
            <a:ext cx="3136392" cy="112471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Slides a pattern across the text and compares characters at each position.
Use: find “TRK-00042” or a street name in a log.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74519"/>
            <a:ext cx="91440" cy="1874519"/>
          </a:xfrm>
          <a:prstGeom prst="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KMP / Z 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514600"/>
            <a:ext cx="3136392" cy="112471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Avoid repeating unnecessary character comparisons while searching a pattern.
Use: faster search in long logs or text fields.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91440" cy="1874519"/>
          </a:xfrm>
          <a:prstGeom prst="rect">
            <a:avLst/>
          </a:prstGeom>
          <a:solidFill>
            <a:srgbClr val="F2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Edit 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514600"/>
            <a:ext cx="3136392" cy="112471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Counts the minimum insertions, deletions and substitutions needed to change one string into another.
Use: “Guntur Road” vs “Guntur Rd”.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10424160" cy="7772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700" b="1">
                <a:solidFill>
                  <a:srgbClr val="13223D"/>
                </a:solidFill>
                <a:latin typeface="Aptos"/>
              </a:rPr>
              <a:t>Important: edit distance is the minimum number of text edits—not the physical distance between two locations.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0640"/>
            <a:ext cx="10515600" cy="59436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600" b="0">
                <a:solidFill>
                  <a:srgbClr val="5F6C7D"/>
                </a:solidFill>
                <a:latin typeface="Aptos"/>
              </a:rPr>
              <a:t>Complexity examples: Naive matching O(nm) worst case; KMP O(n + m); edit-distance DP O(nm).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9672"/>
            <a:ext cx="804672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900" b="1">
                <a:solidFill>
                  <a:srgbClr val="5F6C7D"/>
                </a:solidFill>
                <a:latin typeface="Aptos"/>
              </a:rPr>
              <a:t>FLEETFLOW • REAL-LIFE ALGORITHM 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1">
                <a:solidFill>
                  <a:srgbClr val="5F6C7D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411480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100" b="1">
                <a:solidFill>
                  <a:srgbClr val="169691"/>
                </a:solidFill>
                <a:latin typeface="Aptos"/>
              </a:rP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2800" b="1">
                <a:solidFill>
                  <a:srgbClr val="13223D"/>
                </a:solidFill>
                <a:latin typeface="Aptos"/>
              </a:rPr>
              <a:t>Dynamic programming: reuse solved subproblems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400" b="0">
                <a:solidFill>
                  <a:srgbClr val="5F6C7D"/>
                </a:solidFill>
                <a:latin typeface="Aptos"/>
              </a:rPr>
              <a:t>Real-life example: plan a short delivery tour or choose parcels without exceeding the van’s capacity.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91440" cy="192024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TSP using Bitmask 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514600"/>
            <a:ext cx="3136392" cy="117043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For a small set of stops, explores possible visit orders and finds the minimum-cost tour in the model.
Use: compare routes between a few delivery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74519"/>
            <a:ext cx="91440" cy="1920240"/>
          </a:xfrm>
          <a:prstGeom prst="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0/1 Knapsack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514600"/>
            <a:ext cx="3136392" cy="117043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Chooses parcels with the highest total value while staying within a weight limit.
Use: decide which parcels fit in a van.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5204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91440" cy="1920240"/>
          </a:xfrm>
          <a:prstGeom prst="rect">
            <a:avLst/>
          </a:prstGeom>
          <a:solidFill>
            <a:srgbClr val="F2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Edit-Distance 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514600"/>
            <a:ext cx="3136392" cy="117043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Stores answers for smaller string comparisons instead of recalculating them.
Use: compare a typed address with the stored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97680"/>
            <a:ext cx="10332720" cy="82296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700" b="1">
                <a:solidFill>
                  <a:srgbClr val="13223D"/>
                </a:solidFill>
                <a:latin typeface="Aptos"/>
              </a:rPr>
              <a:t>Why DP? It saves results of repeated subproblems. TSP bitmask DP has O(n²·2ⁿ) time, so it is suitable only for relatively small stop sets.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804672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900" b="1">
                <a:solidFill>
                  <a:srgbClr val="5F6C7D"/>
                </a:solidFill>
                <a:latin typeface="Aptos"/>
              </a:rPr>
              <a:t>FLEETFLOW • REAL-LIFE ALGORITHM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1">
                <a:solidFill>
                  <a:srgbClr val="5F6C7D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411480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100" b="1">
                <a:solidFill>
                  <a:srgbClr val="169691"/>
                </a:solidFill>
                <a:latin typeface="Aptos"/>
              </a:rP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2800" b="1">
                <a:solidFill>
                  <a:srgbClr val="13223D"/>
                </a:solidFill>
                <a:latin typeface="Aptos"/>
              </a:rPr>
              <a:t>Network flow: capacity and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400" b="0">
                <a:solidFill>
                  <a:srgbClr val="5F6C7D"/>
                </a:solidFill>
                <a:latin typeface="Aptos"/>
              </a:rPr>
              <a:t>Real-life example: a delivery hub has limited processing capacity and a fleet of vehicles available for jobs.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91440" cy="201168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Edmonds–Karp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514600"/>
            <a:ext cx="3136392" cy="126187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Finds the maximum flow possible through a network with capacity limits. It uses BFS to find augmenting paths.
Model: parcels flowing through hubs with limited capacity.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74519"/>
            <a:ext cx="91440" cy="2011680"/>
          </a:xfrm>
          <a:prstGeom prst="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Bipartite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514600"/>
            <a:ext cx="3136392" cy="126187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Pairs items from two groups under constraints.
Model: assign delivery jobs to available drivers/vehicles so each job and vehicle is matched appropriately.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91440" cy="2011680"/>
          </a:xfrm>
          <a:prstGeom prst="rect">
            <a:avLst/>
          </a:prstGeom>
          <a:solidFill>
            <a:srgbClr val="F2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Complexity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514600"/>
            <a:ext cx="3136392" cy="126187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Edmonds–Karp: O(VE²).
Augmenting-path bipartite matching: commonly O(VE), depending on implementation.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10332720" cy="7315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700" b="1">
                <a:solidFill>
                  <a:srgbClr val="13223D"/>
                </a:solidFill>
                <a:latin typeface="Aptos"/>
              </a:rPr>
              <a:t>Presentation line: “Network flow helps model capacity limits, while bipartite matching demonstrates how jobs can be paired with available resources.”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332720" cy="4572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400" b="0">
                <a:solidFill>
                  <a:srgbClr val="5F6C7D"/>
                </a:solidFill>
                <a:latin typeface="Aptos"/>
              </a:rPr>
              <a:t>These are algorithm demonstrations; they do not calculate live GPS routes or real road traffic.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9672"/>
            <a:ext cx="804672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900" b="1">
                <a:solidFill>
                  <a:srgbClr val="5F6C7D"/>
                </a:solidFill>
                <a:latin typeface="Aptos"/>
              </a:rPr>
              <a:t>FLEETFLOW • REAL-LIFE ALGORITHM 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1">
                <a:solidFill>
                  <a:srgbClr val="5F6C7D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411480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100" b="1">
                <a:solidFill>
                  <a:srgbClr val="169691"/>
                </a:solidFill>
                <a:latin typeface="Aptos"/>
              </a:rPr>
              <a:t>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2800" b="1">
                <a:solidFill>
                  <a:srgbClr val="13223D"/>
                </a:solidFill>
                <a:latin typeface="Aptos"/>
              </a:rPr>
              <a:t>Hard problems and approximation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400" b="0">
                <a:solidFill>
                  <a:srgbClr val="5F6C7D"/>
                </a:solidFill>
                <a:latin typeface="Aptos"/>
              </a:rPr>
              <a:t>Real-life example: a dispatcher needs a practical plan even when checking every possible plan is too expensive.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91440" cy="201168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Subset Sum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514600"/>
            <a:ext cx="3136392" cy="126187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Checks whether some values can add up to a target.
Model: can selected parcel weights total a required load amount?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74519"/>
            <a:ext cx="91440" cy="2011680"/>
          </a:xfrm>
          <a:prstGeom prst="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Vertex Cover 2-Approximation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514600"/>
            <a:ext cx="3136392" cy="126187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Selects vertices to cover every edge, using a solution that is at most twice the optimum for the standard undirected vertex-cover approximation.
Model: choose service points that cover all links in a small network.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91440" cy="2011680"/>
          </a:xfrm>
          <a:prstGeom prst="rect">
            <a:avLst/>
          </a:prstGeom>
          <a:solidFill>
            <a:srgbClr val="F2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LPT Scheduling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514600"/>
            <a:ext cx="3136392" cy="126187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Assigns the largest jobs first to the currently least-loaded machine.
Model: distribute delivery batches across vehicles to balance workload.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10332720" cy="82296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700" b="1">
                <a:solidFill>
                  <a:srgbClr val="13223D"/>
                </a:solidFill>
                <a:latin typeface="Aptos"/>
              </a:rPr>
              <a:t>Approximation trades guaranteed optimality for a useful solution faster. LPT balances workload; it does not automatically find the shortest geographic route.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804672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900" b="1">
                <a:solidFill>
                  <a:srgbClr val="5F6C7D"/>
                </a:solidFill>
                <a:latin typeface="Aptos"/>
              </a:rPr>
              <a:t>FLEETFLOW • REAL-LIFE ALGORITHM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1">
                <a:solidFill>
                  <a:srgbClr val="5F6C7D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411480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100" b="1">
                <a:solidFill>
                  <a:srgbClr val="169691"/>
                </a:solidFill>
                <a:latin typeface="Aptos"/>
              </a:rPr>
              <a:t>MODULE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2800" b="1">
                <a:solidFill>
                  <a:srgbClr val="13223D"/>
                </a:solidFill>
                <a:latin typeface="Aptos"/>
              </a:rPr>
              <a:t>Randomized and parallel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400" b="0">
                <a:solidFill>
                  <a:srgbClr val="5F6C7D"/>
                </a:solidFill>
                <a:latin typeface="Aptos"/>
              </a:rPr>
              <a:t>Real-life example: process large lists efficiently and estimate whether a large number is probably prime.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91440" cy="201168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Randomized Quicksort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514600"/>
            <a:ext cx="3136392" cy="126187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Uses a randomized pivot to sort records, such as deliveries by ID or time.
Expected time: O(N log N); worst case: O(N²).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74519"/>
            <a:ext cx="91440" cy="2011680"/>
          </a:xfrm>
          <a:prstGeom prst="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Reservoir Sampling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514600"/>
            <a:ext cx="3136392" cy="126187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Selects a sample from a stream when the full stream may be too large to store.
Model: sample a few delivery records from a large 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5204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91440" cy="2011680"/>
          </a:xfrm>
          <a:prstGeom prst="rect">
            <a:avLst/>
          </a:prstGeom>
          <a:solidFill>
            <a:srgbClr val="F2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2039112"/>
            <a:ext cx="31363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Parallel Reduction / Miller–Rabin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2514600"/>
            <a:ext cx="3136392" cy="126187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Parallel reduction combines partial results from chunks of data. Miller–Rabin is a probabilistic primality test.
These demonstrate parallel processing and randomized testing.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10424160" cy="7772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700" b="1">
                <a:solidFill>
                  <a:srgbClr val="13223D"/>
                </a:solidFill>
                <a:latin typeface="Aptos"/>
              </a:rPr>
              <a:t>Real-life connection: sorting helps organize records; sampling helps inspect a subset; parallel reduction can combine counts or totals from separate chunks.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804672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900" b="1">
                <a:solidFill>
                  <a:srgbClr val="5F6C7D"/>
                </a:solidFill>
                <a:latin typeface="Aptos"/>
              </a:rPr>
              <a:t>FLEETFLOW • REAL-LIFE ALGORITHM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1">
                <a:solidFill>
                  <a:srgbClr val="5F6C7D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411480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100" b="1">
                <a:solidFill>
                  <a:srgbClr val="169691"/>
                </a:solidFill>
                <a:latin typeface="Aptos"/>
              </a:rPr>
              <a:t>COMPLEXITY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2800" b="1">
                <a:solidFill>
                  <a:srgbClr val="13223D"/>
                </a:solidFill>
                <a:latin typeface="Aptos"/>
              </a:rPr>
              <a:t>How we describe algorithm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400" b="0">
                <a:solidFill>
                  <a:srgbClr val="5F6C7D"/>
                </a:solidFill>
                <a:latin typeface="Aptos"/>
              </a:rPr>
              <a:t>Big-O describes how work grows as the input size increases; it is not the same as measuring actual run time.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874519"/>
          <a:ext cx="1078992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5669280"/>
              </a:tblGrid>
              <a:tr h="451485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3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Time complexity</a:t>
                      </a:r>
                    </a:p>
                  </a:txBody>
                  <a:tcPr>
                    <a:solidFill>
                      <a:srgbClr val="1322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What it means in FleetFlow</a:t>
                      </a:r>
                    </a:p>
                  </a:txBody>
                  <a:tcPr>
                    <a:solidFill>
                      <a:srgbClr val="13223D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3242"/>
                          </a:solidFill>
                        </a:defRPr>
                      </a:pPr>
                      <a:r>
                        <a:t>Linear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242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242"/>
                          </a:solidFill>
                        </a:defRPr>
                      </a:pPr>
                      <a:r>
                        <a:t>May inspect every delivery row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3242"/>
                          </a:solidFill>
                        </a:defRPr>
                      </a:pPr>
                      <a:r>
                        <a:t>Naive string matching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242"/>
                          </a:solidFill>
                        </a:defRPr>
                      </a:pPr>
                      <a:r>
                        <a:t>O(nm)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242"/>
                          </a:solidFill>
                        </a:defRPr>
                      </a:pPr>
                      <a:r>
                        <a:t>Checks pattern positions and characters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3242"/>
                          </a:solidFill>
                        </a:defRPr>
                      </a:pPr>
                      <a:r>
                        <a:t>KMP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242"/>
                          </a:solidFill>
                        </a:defRPr>
                      </a:pPr>
                      <a:r>
                        <a:t>O(n +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242"/>
                          </a:solidFill>
                        </a:defRPr>
                      </a:pPr>
                      <a:r>
                        <a:t>Efficient pattern 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3242"/>
                          </a:solidFill>
                        </a:defRPr>
                      </a:pPr>
                      <a:r>
                        <a:t>Edit distance DP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242"/>
                          </a:solidFill>
                        </a:defRPr>
                      </a:pPr>
                      <a:r>
                        <a:t>O(nm)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242"/>
                          </a:solidFill>
                        </a:defRPr>
                      </a:pPr>
                      <a:r>
                        <a:t>Compares two strings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3242"/>
                          </a:solidFill>
                        </a:defRPr>
                      </a:pPr>
                      <a:r>
                        <a:t>TSP bitmask 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242"/>
                          </a:solidFill>
                        </a:defRPr>
                      </a:pPr>
                      <a:r>
                        <a:t>O(n²·2ⁿ)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242"/>
                          </a:solidFill>
                        </a:defRPr>
                      </a:pPr>
                      <a:r>
                        <a:t>Small route-planning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3242"/>
                          </a:solidFill>
                        </a:defRPr>
                      </a:pPr>
                      <a:r>
                        <a:t>Edmonds–Karp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242"/>
                          </a:solidFill>
                        </a:defRPr>
                      </a:pPr>
                      <a:r>
                        <a:t>O(VE²)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242"/>
                          </a:solidFill>
                        </a:defRPr>
                      </a:pPr>
                      <a:r>
                        <a:t>Maximum-flow network</a:t>
                      </a:r>
                    </a:p>
                  </a:txBody>
                  <a:tcPr>
                    <a:solidFill>
                      <a:srgbClr val="E9F0F8"/>
                    </a:solidFill>
                  </a:tcPr>
                </a:tc>
              </a:tr>
              <a:tr h="45148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83242"/>
                          </a:solidFill>
                        </a:defRPr>
                      </a:pPr>
                      <a:r>
                        <a:t>Randomized Quicksort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242"/>
                          </a:solidFill>
                        </a:defRPr>
                      </a:pPr>
                      <a:r>
                        <a:t>Expected O(N log 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3242"/>
                          </a:solidFill>
                        </a:defRPr>
                      </a:pPr>
                      <a:r>
                        <a:t>Sorts delivery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715000"/>
            <a:ext cx="10241280" cy="36576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300" b="0">
                <a:solidFill>
                  <a:srgbClr val="5F6C7D"/>
                </a:solidFill>
                <a:latin typeface="Aptos"/>
              </a:rPr>
              <a:t>Note: Complexity values describe the algorithms discussed in the project; they do not by themselves prove runtime benchmarking was implemented.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9672"/>
            <a:ext cx="804672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900" b="1">
                <a:solidFill>
                  <a:srgbClr val="5F6C7D"/>
                </a:solidFill>
                <a:latin typeface="Aptos"/>
              </a:rPr>
              <a:t>FLEETFLOW • REAL-LIFE ALGORITHM 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1">
                <a:solidFill>
                  <a:srgbClr val="5F6C7D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411480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100" b="1">
                <a:solidFill>
                  <a:srgbClr val="169691"/>
                </a:solidFill>
                <a:latin typeface="Aptos"/>
              </a:rP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2800" b="1">
                <a:solidFill>
                  <a:srgbClr val="13223D"/>
                </a:solidFill>
                <a:latin typeface="Aptos"/>
              </a:rPr>
              <a:t>A simple real-life presentation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97280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400" b="0">
                <a:solidFill>
                  <a:srgbClr val="5F6C7D"/>
                </a:solidFill>
                <a:latin typeface="Aptos"/>
              </a:rPr>
              <a:t>Use a short story instead of listing algorithm names only.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783080"/>
            <a:ext cx="475488" cy="475488"/>
          </a:xfrm>
          <a:prstGeom prst="ellipse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56231"/>
            <a:ext cx="475488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64792"/>
            <a:ext cx="3657600" cy="3200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600" b="1">
                <a:solidFill>
                  <a:srgbClr val="13223D"/>
                </a:solidFill>
                <a:latin typeface="Aptos"/>
              </a:rPr>
              <a:t>Customer asks for a parcel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764792"/>
            <a:ext cx="621792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Use Module 1 to search the tracking code.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24328"/>
            <a:ext cx="475488" cy="475488"/>
          </a:xfrm>
          <a:prstGeom prst="ellipse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475488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06040"/>
            <a:ext cx="3657600" cy="3200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600" b="1">
                <a:solidFill>
                  <a:srgbClr val="13223D"/>
                </a:solidFill>
                <a:latin typeface="Aptos"/>
              </a:rPr>
              <a:t>Customer typed an imperfect address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606040"/>
            <a:ext cx="621792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Use string matching / edit distance to compare the text.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465576"/>
            <a:ext cx="475488" cy="475488"/>
          </a:xfrm>
          <a:prstGeom prst="ellipse">
            <a:avLst/>
          </a:prstGeom>
          <a:solidFill>
            <a:srgbClr val="F2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38728"/>
            <a:ext cx="475488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447288"/>
            <a:ext cx="3657600" cy="3200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600" b="1">
                <a:solidFill>
                  <a:srgbClr val="13223D"/>
                </a:solidFill>
                <a:latin typeface="Aptos"/>
              </a:rPr>
              <a:t>Dispatcher plans a small tour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447288"/>
            <a:ext cx="621792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Explain TSP DP and why it suits small stop sets.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306824"/>
            <a:ext cx="475488" cy="475488"/>
          </a:xfrm>
          <a:prstGeom prst="ellipse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79976"/>
            <a:ext cx="475488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288536"/>
            <a:ext cx="3657600" cy="3200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600" b="1">
                <a:solidFill>
                  <a:srgbClr val="13223D"/>
                </a:solidFill>
                <a:latin typeface="Aptos"/>
              </a:rPr>
              <a:t>Hub has capacity 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288536"/>
            <a:ext cx="621792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Use Edmonds–Karp to demonstrate maximum flow.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148072"/>
            <a:ext cx="475488" cy="475488"/>
          </a:xfrm>
          <a:prstGeom prst="ellipse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21224"/>
            <a:ext cx="475488" cy="2286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129784"/>
            <a:ext cx="3657600" cy="3200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600" b="1">
                <a:solidFill>
                  <a:srgbClr val="13223D"/>
                </a:solidFill>
                <a:latin typeface="Aptos"/>
              </a:rPr>
              <a:t>Many jobs, limited vehicles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5129784"/>
            <a:ext cx="6217920" cy="5029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Use matching or LPT to demonstrate assignment and workload balance.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804672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900" b="1">
                <a:solidFill>
                  <a:srgbClr val="5F6C7D"/>
                </a:solidFill>
                <a:latin typeface="Aptos"/>
              </a:rPr>
              <a:t>FLEETFLOW • REAL-LIFE ALGORITHM EXAMPLES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1">
                <a:solidFill>
                  <a:srgbClr val="5F6C7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2926080" cy="32004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200" b="1">
                <a:solidFill>
                  <a:srgbClr val="F2B037"/>
                </a:solidFill>
                <a:latin typeface="Aptos"/>
              </a:rPr>
              <a:t>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424160" cy="7315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Algorithms solve different logistics problems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42316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423160"/>
            <a:ext cx="91440" cy="1508760"/>
          </a:xfrm>
          <a:prstGeom prst="rect">
            <a:avLst/>
          </a:prstGeom>
          <a:solidFill>
            <a:srgbClr val="2C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587752"/>
            <a:ext cx="29077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3063239"/>
            <a:ext cx="2907792" cy="75895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Find a parcel or tracking code.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42316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2423160"/>
            <a:ext cx="91440" cy="1508760"/>
          </a:xfrm>
          <a:prstGeom prst="rect">
            <a:avLst/>
          </a:prstGeom>
          <a:solidFill>
            <a:srgbClr val="16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2587752"/>
            <a:ext cx="29077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Optimize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4296" y="3063239"/>
            <a:ext cx="2907792" cy="75895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Compare text, plan small tours, respect capacity.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423160"/>
            <a:ext cx="32918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2423160"/>
            <a:ext cx="91440" cy="1508760"/>
          </a:xfrm>
          <a:prstGeom prst="rect">
            <a:avLst/>
          </a:prstGeom>
          <a:solidFill>
            <a:srgbClr val="F2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2587752"/>
            <a:ext cx="2907792" cy="38404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800" b="1">
                <a:solidFill>
                  <a:srgbClr val="13223D"/>
                </a:solidFill>
                <a:latin typeface="Aptos"/>
              </a:rPr>
              <a:t>Allocate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3063239"/>
            <a:ext cx="2907792" cy="758952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500" b="0">
                <a:solidFill>
                  <a:srgbClr val="283242"/>
                </a:solidFill>
                <a:latin typeface="Aptos"/>
              </a:rPr>
              <a:t>Model network flow and balance delivery work.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10424160" cy="68580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700" b="0">
                <a:solidFill>
                  <a:srgbClr val="DCE6F2"/>
                </a:solidFill>
                <a:latin typeface="Aptos"/>
              </a:rPr>
              <a:t>Key message: FleetFlow is an educational Java prototype that demonstrates algorithmic ideas using a synthetic logistics dataset—not a production GPS dispatch system.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989320"/>
            <a:ext cx="4572000" cy="27432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1700" b="1">
                <a:solidFill>
                  <a:srgbClr val="F2B037"/>
                </a:solidFill>
                <a:latin typeface="Aptos"/>
              </a:rPr>
              <a:t>Thank you • 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9672"/>
            <a:ext cx="8046720" cy="182880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r>
              <a:rPr sz="900" b="1">
                <a:solidFill>
                  <a:srgbClr val="5F6C7D"/>
                </a:solidFill>
                <a:latin typeface="Aptos"/>
              </a:rPr>
              <a:t>FLEETFLOW • REAL-LIFE ALGORITHM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411480" cy="201168"/>
          </a:xfrm>
          <a:prstGeom prst="rect">
            <a:avLst/>
          </a:prstGeom>
          <a:noFill/>
        </p:spPr>
        <p:txBody>
          <a:bodyPr wrap="square" lIns="73152" rIns="73152" bIns="36576" anchor="t">
            <a:spAutoFit/>
          </a:bodyPr>
          <a:lstStyle/>
          <a:p>
            <a:pPr algn="r"/>
            <a:r>
              <a:rPr sz="1000" b="1">
                <a:solidFill>
                  <a:srgbClr val="5F6C7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